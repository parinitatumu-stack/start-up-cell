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6" r:id="rId2"/>
    <p:sldId id="278" r:id="rId3"/>
    <p:sldId id="257" r:id="rId4"/>
    <p:sldId id="321" r:id="rId5"/>
    <p:sldId id="326" r:id="rId6"/>
    <p:sldId id="322" r:id="rId7"/>
    <p:sldId id="323" r:id="rId8"/>
    <p:sldId id="324" r:id="rId9"/>
    <p:sldId id="277" r:id="rId10"/>
    <p:sldId id="320" r:id="rId11"/>
    <p:sldId id="327" r:id="rId1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6/3/2026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5861" y="395291"/>
            <a:ext cx="8648699" cy="609600"/>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IN" b="1" dirty="0">
                <a:latin typeface="Times New Roman" panose="02020603050405020304" pitchFamily="18" charset="0"/>
                <a:cs typeface="Times New Roman" panose="02020603050405020304" pitchFamily="18" charset="0"/>
              </a:rPr>
              <a:t>student innovation startup cell portal</a:t>
            </a:r>
            <a:br>
              <a:rPr lang="en-IN" b="1" dirty="0"/>
            </a:b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29380" y="1335243"/>
            <a:ext cx="8621660" cy="2854327"/>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 Parinitha                2520030562</a:t>
            </a:r>
          </a:p>
          <a:p>
            <a:pPr>
              <a:lnSpc>
                <a:spcPct val="80000"/>
              </a:lnSpc>
              <a:defRPr/>
            </a:pPr>
            <a:r>
              <a:rPr lang="en-US" b="1" dirty="0">
                <a:solidFill>
                  <a:srgbClr val="00B0F0"/>
                </a:solidFill>
                <a:latin typeface="Times New Roman" pitchFamily="18" charset="0"/>
                <a:cs typeface="Times New Roman" pitchFamily="18" charset="0"/>
              </a:rPr>
              <a:t>P. Anuradha Nandini                2520030171</a:t>
            </a:r>
            <a:endParaRPr lang="en-US" dirty="0">
              <a:solidFill>
                <a:srgbClr val="0D0D0D"/>
              </a:solidFill>
              <a:latin typeface="Times New Roman" pitchFamily="18" charset="0"/>
              <a:cs typeface="Times New Roman" pitchFamily="18" charset="0"/>
            </a:endParaRPr>
          </a:p>
          <a:p>
            <a:pPr>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Pavithra Duggineni</a:t>
            </a:r>
            <a:br>
              <a:rPr lang="en-US" sz="3400" b="1" dirty="0">
                <a:solidFill>
                  <a:srgbClr val="00B0F0"/>
                </a:solidFill>
                <a:latin typeface="Times New Roman" pitchFamily="18" charset="0"/>
                <a:cs typeface="Times New Roman" pitchFamily="18" charset="0"/>
              </a:rPr>
            </a:br>
            <a:endParaRPr lang="en-US" sz="34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Bachupally-</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Bowrampet,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0217" y="4149727"/>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152400" y="1066800"/>
            <a:ext cx="8839200" cy="5364161"/>
          </a:xfrm>
        </p:spPr>
        <p:txBody>
          <a:bodyPr>
            <a:normAutofit fontScale="40000" lnSpcReduction="20000"/>
          </a:bodyPr>
          <a:lstStyle/>
          <a:p>
            <a:pPr marL="0" indent="0">
              <a:buNone/>
            </a:pPr>
            <a:r>
              <a:rPr lang="en-IN" b="1" dirty="0"/>
              <a:t> </a:t>
            </a:r>
            <a:endParaRPr lang="en-IN" sz="4500" dirty="0">
              <a:latin typeface="Times New Roman" panose="02020603050405020304" pitchFamily="18" charset="0"/>
              <a:cs typeface="Times New Roman" panose="02020603050405020304" pitchFamily="18" charset="0"/>
            </a:endParaRPr>
          </a:p>
          <a:p>
            <a:r>
              <a:rPr lang="en-IN" sz="4500" dirty="0">
                <a:latin typeface="Times New Roman" panose="02020603050405020304" pitchFamily="18" charset="0"/>
                <a:cs typeface="Times New Roman" panose="02020603050405020304" pitchFamily="18" charset="0"/>
              </a:rPr>
              <a:t>The Student Innovation &amp; Startup Cell Portal is a web-based platform designed to promote innovation, entrepreneurship, and startup development within academic institutions. It provides students with a structured environment to transform ideas into practical business solutions by offering tools for startup registration, proposal submission, and incubation program applications through an intuitive interface.</a:t>
            </a:r>
          </a:p>
          <a:p>
            <a:r>
              <a:rPr lang="en-IN" sz="4500" dirty="0">
                <a:latin typeface="Times New Roman" panose="02020603050405020304" pitchFamily="18" charset="0"/>
                <a:cs typeface="Times New Roman" panose="02020603050405020304" pitchFamily="18" charset="0"/>
              </a:rPr>
              <a:t>The system streamlines administrative processes by allowing administrators to review applications, evaluate proposals, and assign mentors based on expertise. Mentors guide students throughout the development process, offering feedback and tracking progress at various stages. A built-in progress monitoring system helps track milestones, achievements, and overall performance, ensuring transparency and accountability.</a:t>
            </a:r>
          </a:p>
          <a:p>
            <a:r>
              <a:rPr lang="en-IN" sz="4500" dirty="0">
                <a:latin typeface="Times New Roman" panose="02020603050405020304" pitchFamily="18" charset="0"/>
                <a:cs typeface="Times New Roman" panose="02020603050405020304" pitchFamily="18" charset="0"/>
              </a:rPr>
              <a:t>The portal also functions as an inspiration hub by showcasing successful startup stories, motivating students to engage in innovation-driven activities. A notification system keeps users updated on application statuses, mentoring sessions, and important announcements, ensuring smooth communication among all stakeholders.</a:t>
            </a:r>
          </a:p>
          <a:p>
            <a:r>
              <a:rPr lang="en-IN" sz="4500" dirty="0">
                <a:latin typeface="Times New Roman" panose="02020603050405020304" pitchFamily="18" charset="0"/>
                <a:cs typeface="Times New Roman" panose="02020603050405020304" pitchFamily="18" charset="0"/>
              </a:rPr>
              <a:t>Additionally, the platform maintains detailed records of all activities and provides report generation features for better documentation and analysis. Built using modern technologies like React.js for the frontend and Node.js with Express.js for the backend, the portal ensures high performance, scalability, and reliability.</a:t>
            </a:r>
          </a:p>
          <a:p>
            <a:r>
              <a:rPr lang="en-IN" sz="4500" dirty="0">
                <a:latin typeface="Times New Roman" panose="02020603050405020304" pitchFamily="18" charset="0"/>
                <a:cs typeface="Times New Roman" panose="02020603050405020304" pitchFamily="18" charset="0"/>
              </a:rPr>
              <a:t>Overall, the Student Innovation &amp; Startup Cell Portal enhances collaboration, simplifies startup management, and fosters a culture of creativity and entrepreneurship, making it a valuable tool for institutions aiming to support and nurture future innovators and business leaders.</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62500" lnSpcReduction="20000"/>
          </a:bodyPr>
          <a:lstStyle/>
          <a:p>
            <a:pPr marL="0" indent="0" algn="just">
              <a:buNone/>
            </a:pPr>
            <a:r>
              <a:rPr lang="en-IN" dirty="0"/>
              <a:t>  </a:t>
            </a:r>
            <a:r>
              <a:rPr lang="en-IN" dirty="0">
                <a:latin typeface="Times New Roman" panose="02020603050405020304" pitchFamily="18" charset="0"/>
                <a:cs typeface="Times New Roman" panose="02020603050405020304" pitchFamily="18" charset="0"/>
              </a:rPr>
              <a:t>The Student Innovation &amp; Startup Cell Portal is a comprehensive web-based platform designed to foster innovation, entrepreneurship, and startup culture within academic institutions. It provides students with a centralized environment to transform innovative ideas into viable business solutions by facilitating startup registration, proposal submission, incubation applications, and mentorship support.</a:t>
            </a:r>
          </a:p>
          <a:p>
            <a:pPr marL="0" indent="0" algn="just">
              <a:buNone/>
            </a:pPr>
            <a:r>
              <a:rPr lang="en-IN" dirty="0">
                <a:latin typeface="Times New Roman" panose="02020603050405020304" pitchFamily="18" charset="0"/>
                <a:cs typeface="Times New Roman" panose="02020603050405020304" pitchFamily="18" charset="0"/>
              </a:rPr>
              <a:t>  The portal streamlines the interaction between students, mentors, and administrators through an intuitive and user-friendly interface. It enables efficient application management, progress tracking, mentor assignment, and communication while ensuring transparency throughout the startup development lifecycle.</a:t>
            </a:r>
          </a:p>
          <a:p>
            <a:pPr marL="0" indent="0" algn="just">
              <a:buNone/>
            </a:pPr>
            <a:r>
              <a:rPr lang="en-IN" dirty="0">
                <a:latin typeface="Times New Roman" panose="02020603050405020304" pitchFamily="18" charset="0"/>
                <a:cs typeface="Times New Roman" panose="02020603050405020304" pitchFamily="18" charset="0"/>
              </a:rPr>
              <a:t>  By showcasing success stories, monitoring achievements, and generating analytical reports, the system encourages creativity, collaboration, and entrepreneurial thinking. Built with modern technologies such as React.js, Node.js, and Express.js, the platform delivers a scalable, reliable, and high-performance solution for nurturing future innovators and startup founders.</a:t>
            </a:r>
          </a:p>
          <a:p>
            <a:endParaRPr lang="en-US"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62500" lnSpcReduction="20000"/>
          </a:bodyPr>
          <a:lstStyle/>
          <a:p>
            <a:pPr marL="0" indent="0">
              <a:buNone/>
            </a:pPr>
            <a:r>
              <a:rPr lang="en-IN" dirty="0">
                <a:latin typeface="Times New Roman" panose="02020603050405020304" pitchFamily="18" charset="0"/>
                <a:cs typeface="Times New Roman" panose="02020603050405020304" pitchFamily="18" charset="0"/>
              </a:rPr>
              <a:t>   Many students possess innovative ideas and entrepreneurial potential but face challenges in transforming their concepts into successful startups due to the lack of a centralized platform for idea management, mentorship, incubation support, and progress tracking. Existing processes for startup registration, proposal evaluation, mentor assignment, and communication are often manual, fragmented, and time-consuming, leading to inefficiencies and limited collaboration among stakeholders.</a:t>
            </a:r>
          </a:p>
          <a:p>
            <a:pPr marL="0" indent="0">
              <a:buNone/>
            </a:pPr>
            <a:r>
              <a:rPr lang="en-IN" dirty="0">
                <a:latin typeface="Times New Roman" panose="02020603050405020304" pitchFamily="18" charset="0"/>
                <a:cs typeface="Times New Roman" panose="02020603050405020304" pitchFamily="18" charset="0"/>
              </a:rPr>
              <a:t>   Academic institutions also struggle to effectively monitor student startup activities, maintain records, evaluate performance, and provide timely guidance. The absence of a structured system can result in poor coordination, delayed decision-making, and reduced opportunities for students to receive the support needed to develop their innovations.</a:t>
            </a:r>
          </a:p>
          <a:p>
            <a:pPr marL="0" indent="0">
              <a:buNone/>
            </a:pPr>
            <a:r>
              <a:rPr lang="en-IN" dirty="0">
                <a:latin typeface="Times New Roman" panose="02020603050405020304" pitchFamily="18" charset="0"/>
                <a:cs typeface="Times New Roman" panose="02020603050405020304" pitchFamily="18" charset="0"/>
              </a:rPr>
              <a:t>   Therefore, there is a need for an integrated digital solution that streamlines startup management, facilitates collaboration between students, mentors, and administrators, tracks progress transparently, and promotes a culture of innovation and entrepreneurship within educational institutions.</a:t>
            </a:r>
          </a:p>
          <a:p>
            <a:pPr marL="0" indent="0">
              <a:buNone/>
            </a:pPr>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50BF7C-4E42-3323-319A-9E8717B94BB8}"/>
              </a:ext>
            </a:extLst>
          </p:cNvPr>
          <p:cNvSpPr>
            <a:spLocks noGrp="1"/>
          </p:cNvSpPr>
          <p:nvPr>
            <p:ph type="title" idx="4294967295"/>
          </p:nvPr>
        </p:nvSpPr>
        <p:spPr>
          <a:xfrm>
            <a:off x="621506" y="494414"/>
            <a:ext cx="7900987" cy="817403"/>
          </a:xfrm>
        </p:spPr>
        <p:txBody>
          <a:bodyPr vert="horz" lIns="91440" tIns="45720" rIns="91440" bIns="45720" rtlCol="0" anchor="b">
            <a:normAutofit/>
          </a:bodyPr>
          <a:lstStyle/>
          <a:p>
            <a:pPr>
              <a:lnSpc>
                <a:spcPct val="90000"/>
              </a:lnSpc>
            </a:pPr>
            <a:r>
              <a:rPr lang="en-US" sz="3100" b="1" kern="1200" dirty="0">
                <a:solidFill>
                  <a:schemeClr val="accent5">
                    <a:lumMod val="50000"/>
                  </a:schemeClr>
                </a:solidFill>
                <a:latin typeface="Times New Roman" panose="02020603050405020304" pitchFamily="18" charset="0"/>
                <a:cs typeface="Times New Roman" panose="02020603050405020304" pitchFamily="18" charset="0"/>
              </a:rPr>
              <a:t>Project Flow Diagram</a:t>
            </a:r>
          </a:p>
        </p:txBody>
      </p:sp>
      <p:pic>
        <p:nvPicPr>
          <p:cNvPr id="23" name="Picture 22">
            <a:extLst>
              <a:ext uri="{FF2B5EF4-FFF2-40B4-BE49-F238E27FC236}">
                <a16:creationId xmlns:a16="http://schemas.microsoft.com/office/drawing/2014/main" id="{066260A0-15AB-E6CA-E58D-81E2579649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4194" y="2083506"/>
            <a:ext cx="7395609" cy="4280080"/>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647700" y="571499"/>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600200"/>
            <a:ext cx="8229600" cy="4830764"/>
          </a:xfrm>
        </p:spPr>
        <p:txBody>
          <a:bodyPr>
            <a:normAutofit fontScale="62500" lnSpcReduction="20000"/>
          </a:bodyPr>
          <a:lstStyle/>
          <a:p>
            <a:pPr marL="0" indent="0">
              <a:buNone/>
            </a:pPr>
            <a:r>
              <a:rPr lang="en-IN" b="1"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Create a centralized startup management platform. </a:t>
            </a:r>
          </a:p>
          <a:p>
            <a:r>
              <a:rPr lang="en-IN" dirty="0">
                <a:latin typeface="Times New Roman" panose="02020603050405020304" pitchFamily="18" charset="0"/>
                <a:cs typeface="Times New Roman" panose="02020603050405020304" pitchFamily="18" charset="0"/>
              </a:rPr>
              <a:t>Simplify startup registration and proposal submission. </a:t>
            </a:r>
          </a:p>
          <a:p>
            <a:r>
              <a:rPr lang="en-IN" dirty="0">
                <a:latin typeface="Times New Roman" panose="02020603050405020304" pitchFamily="18" charset="0"/>
                <a:cs typeface="Times New Roman" panose="02020603050405020304" pitchFamily="18" charset="0"/>
              </a:rPr>
              <a:t>Enable efficient mentor allocation and guidance. </a:t>
            </a:r>
          </a:p>
          <a:p>
            <a:r>
              <a:rPr lang="en-IN" dirty="0">
                <a:latin typeface="Times New Roman" panose="02020603050405020304" pitchFamily="18" charset="0"/>
                <a:cs typeface="Times New Roman" panose="02020603050405020304" pitchFamily="18" charset="0"/>
              </a:rPr>
              <a:t>Track startup progress and milestones. </a:t>
            </a:r>
          </a:p>
          <a:p>
            <a:r>
              <a:rPr lang="en-IN" dirty="0">
                <a:latin typeface="Times New Roman" panose="02020603050405020304" pitchFamily="18" charset="0"/>
                <a:cs typeface="Times New Roman" panose="02020603050405020304" pitchFamily="18" charset="0"/>
              </a:rPr>
              <a:t>Automate application review and approval processes. </a:t>
            </a:r>
          </a:p>
          <a:p>
            <a:r>
              <a:rPr lang="en-IN" dirty="0">
                <a:latin typeface="Times New Roman" panose="02020603050405020304" pitchFamily="18" charset="0"/>
                <a:cs typeface="Times New Roman" panose="02020603050405020304" pitchFamily="18" charset="0"/>
              </a:rPr>
              <a:t>Improve communication through notifications. </a:t>
            </a:r>
          </a:p>
          <a:p>
            <a:r>
              <a:rPr lang="en-IN" dirty="0">
                <a:latin typeface="Times New Roman" panose="02020603050405020304" pitchFamily="18" charset="0"/>
                <a:cs typeface="Times New Roman" panose="02020603050405020304" pitchFamily="18" charset="0"/>
              </a:rPr>
              <a:t>Generate reports and maintain records. </a:t>
            </a:r>
          </a:p>
          <a:p>
            <a:r>
              <a:rPr lang="en-IN" dirty="0">
                <a:latin typeface="Times New Roman" panose="02020603050405020304" pitchFamily="18" charset="0"/>
                <a:cs typeface="Times New Roman" panose="02020603050405020304" pitchFamily="18" charset="0"/>
              </a:rPr>
              <a:t>Encourage innovation and entrepreneurship. </a:t>
            </a:r>
          </a:p>
          <a:p>
            <a:r>
              <a:rPr lang="en-IN" dirty="0">
                <a:latin typeface="Times New Roman" panose="02020603050405020304" pitchFamily="18" charset="0"/>
                <a:cs typeface="Times New Roman" panose="02020603050405020304" pitchFamily="18" charset="0"/>
              </a:rPr>
              <a:t>Showcase startup success stories. </a:t>
            </a:r>
          </a:p>
          <a:p>
            <a:r>
              <a:rPr lang="en-IN" dirty="0">
                <a:latin typeface="Times New Roman" panose="02020603050405020304" pitchFamily="18" charset="0"/>
                <a:cs typeface="Times New Roman" panose="02020603050405020304" pitchFamily="18" charset="0"/>
              </a:rPr>
              <a:t>Provide a secure, scalable, and user-friendly system. </a:t>
            </a:r>
          </a:p>
          <a:p>
            <a:pPr marL="0" indent="0">
              <a:buNone/>
            </a:pPr>
            <a:r>
              <a:rPr lang="en-IN" b="1" dirty="0">
                <a:latin typeface="Times New Roman" panose="02020603050405020304" pitchFamily="18" charset="0"/>
                <a:cs typeface="Times New Roman" panose="02020603050405020304" pitchFamily="18" charset="0"/>
              </a:rPr>
              <a:t>Justification: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portal addresses the lack of a structured system for managing student innovations and startup activities by improving collaboration, transparency, efficiency, and entrepreneurial development within academic institutions</a:t>
            </a:r>
            <a:r>
              <a:rPr lang="en-IN" dirty="0"/>
              <a:t>.</a:t>
            </a:r>
          </a:p>
          <a:p>
            <a:pPr marL="0" indent="0">
              <a:buNone/>
            </a:pPr>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idx="4294967295"/>
          </p:nvPr>
        </p:nvSpPr>
        <p:spPr>
          <a:xfrm>
            <a:off x="838200" y="392290"/>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7" name="TextBox 6">
            <a:extLst>
              <a:ext uri="{FF2B5EF4-FFF2-40B4-BE49-F238E27FC236}">
                <a16:creationId xmlns:a16="http://schemas.microsoft.com/office/drawing/2014/main" id="{660B1F8A-A498-DCB6-9FB1-47268CCE7E14}"/>
              </a:ext>
            </a:extLst>
          </p:cNvPr>
          <p:cNvSpPr txBox="1"/>
          <p:nvPr/>
        </p:nvSpPr>
        <p:spPr>
          <a:xfrm>
            <a:off x="700549" y="1828800"/>
            <a:ext cx="4572000" cy="4801314"/>
          </a:xfrm>
          <a:prstGeom prst="rect">
            <a:avLst/>
          </a:prstGeom>
          <a:noFill/>
        </p:spPr>
        <p:txBody>
          <a:bodyPr wrap="square">
            <a:spAutoFit/>
          </a:bodyPr>
          <a:lstStyle/>
          <a:p>
            <a:pPr>
              <a:buNone/>
            </a:pPr>
            <a:r>
              <a:rPr lang="en-IN" sz="2400" dirty="0"/>
              <a:t>👤 </a:t>
            </a:r>
            <a:r>
              <a:rPr lang="en-IN" sz="2400" b="1" dirty="0">
                <a:latin typeface="Times New Roman" panose="02020603050405020304" pitchFamily="18" charset="0"/>
                <a:cs typeface="Times New Roman" panose="02020603050405020304" pitchFamily="18" charset="0"/>
              </a:rPr>
              <a:t>Authentication Module</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Registration Page</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Login Page</a:t>
            </a:r>
          </a:p>
          <a:p>
            <a:pPr>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Student Module</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Student Dashboard</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Startup Registration</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Proposal Submission</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Progress Tracking</a:t>
            </a:r>
          </a:p>
          <a:p>
            <a:pPr>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Mentor Module</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Mentor Dashboard</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Startup Evaluation</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Feedback Management</a:t>
            </a:r>
          </a:p>
          <a:p>
            <a:pPr>
              <a:buNone/>
            </a:pPr>
            <a:r>
              <a:rPr lang="en-IN" dirty="0">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08C4B839-7710-A433-DAFF-993A05E16303}"/>
              </a:ext>
            </a:extLst>
          </p:cNvPr>
          <p:cNvSpPr txBox="1"/>
          <p:nvPr/>
        </p:nvSpPr>
        <p:spPr>
          <a:xfrm>
            <a:off x="5867400" y="2336631"/>
            <a:ext cx="4572000" cy="3785652"/>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Admin Module</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Admin Dashboard</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Application Review</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Mentor Assignment</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Report Generation</a:t>
            </a:r>
          </a:p>
          <a:p>
            <a:pPr>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General Module</a:t>
            </a: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Home Page</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Success Stories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Notifications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 Profile</a:t>
            </a:r>
          </a:p>
        </p:txBody>
      </p:sp>
    </p:spTree>
    <p:extLst>
      <p:ext uri="{BB962C8B-B14F-4D97-AF65-F5344CB8AC3E}">
        <p14:creationId xmlns:p14="http://schemas.microsoft.com/office/powerpoint/2010/main" val="2608133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51039" y="404019"/>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609600" y="1325563"/>
            <a:ext cx="8229600" cy="4983164"/>
          </a:xfrm>
        </p:spPr>
        <p:txBody>
          <a:bodyPr>
            <a:normAutofit fontScale="92500" lnSpcReduction="10000"/>
          </a:bodyPr>
          <a:lstStyle/>
          <a:p>
            <a:r>
              <a:rPr lang="en-IN" sz="3000" dirty="0">
                <a:latin typeface="Times New Roman" panose="02020603050405020304" pitchFamily="18" charset="0"/>
                <a:cs typeface="Times New Roman" panose="02020603050405020304" pitchFamily="18" charset="0"/>
              </a:rPr>
              <a:t>Centralized startup and innovation management. </a:t>
            </a:r>
          </a:p>
          <a:p>
            <a:r>
              <a:rPr lang="en-IN" sz="3000" dirty="0">
                <a:latin typeface="Times New Roman" panose="02020603050405020304" pitchFamily="18" charset="0"/>
                <a:cs typeface="Times New Roman" panose="02020603050405020304" pitchFamily="18" charset="0"/>
              </a:rPr>
              <a:t>Faster application review and approval process. </a:t>
            </a:r>
          </a:p>
          <a:p>
            <a:r>
              <a:rPr lang="en-IN" sz="3000" dirty="0">
                <a:latin typeface="Times New Roman" panose="02020603050405020304" pitchFamily="18" charset="0"/>
                <a:cs typeface="Times New Roman" panose="02020603050405020304" pitchFamily="18" charset="0"/>
              </a:rPr>
              <a:t>Improved student engagement in entrepreneurship. </a:t>
            </a:r>
          </a:p>
          <a:p>
            <a:r>
              <a:rPr lang="en-IN" sz="3000" dirty="0">
                <a:latin typeface="Times New Roman" panose="02020603050405020304" pitchFamily="18" charset="0"/>
                <a:cs typeface="Times New Roman" panose="02020603050405020304" pitchFamily="18" charset="0"/>
              </a:rPr>
              <a:t>Efficient mentor-student collaboration. </a:t>
            </a:r>
          </a:p>
          <a:p>
            <a:r>
              <a:rPr lang="en-IN" sz="3000" dirty="0">
                <a:latin typeface="Times New Roman" panose="02020603050405020304" pitchFamily="18" charset="0"/>
                <a:cs typeface="Times New Roman" panose="02020603050405020304" pitchFamily="18" charset="0"/>
              </a:rPr>
              <a:t>Transparent progress and milestone tracking. </a:t>
            </a:r>
          </a:p>
          <a:p>
            <a:r>
              <a:rPr lang="en-IN" sz="3000" dirty="0">
                <a:latin typeface="Times New Roman" panose="02020603050405020304" pitchFamily="18" charset="0"/>
                <a:cs typeface="Times New Roman" panose="02020603050405020304" pitchFamily="18" charset="0"/>
              </a:rPr>
              <a:t>Better communication through notifications. </a:t>
            </a:r>
          </a:p>
          <a:p>
            <a:r>
              <a:rPr lang="en-IN" sz="3000" dirty="0">
                <a:latin typeface="Times New Roman" panose="02020603050405020304" pitchFamily="18" charset="0"/>
                <a:cs typeface="Times New Roman" panose="02020603050405020304" pitchFamily="18" charset="0"/>
              </a:rPr>
              <a:t>Secure record management and documentation. </a:t>
            </a:r>
          </a:p>
          <a:p>
            <a:r>
              <a:rPr lang="en-IN" sz="3000" dirty="0">
                <a:latin typeface="Times New Roman" panose="02020603050405020304" pitchFamily="18" charset="0"/>
                <a:cs typeface="Times New Roman" panose="02020603050405020304" pitchFamily="18" charset="0"/>
              </a:rPr>
              <a:t>Automated report generation and analytics. </a:t>
            </a:r>
          </a:p>
          <a:p>
            <a:r>
              <a:rPr lang="en-IN" sz="3000" dirty="0">
                <a:latin typeface="Times New Roman" panose="02020603050405020304" pitchFamily="18" charset="0"/>
                <a:cs typeface="Times New Roman" panose="02020603050405020304" pitchFamily="18" charset="0"/>
              </a:rPr>
              <a:t>Increased innovation and startup success rates. </a:t>
            </a:r>
          </a:p>
          <a:p>
            <a:r>
              <a:rPr lang="en-IN" sz="3000" dirty="0">
                <a:latin typeface="Times New Roman" panose="02020603050405020304" pitchFamily="18" charset="0"/>
                <a:cs typeface="Times New Roman" panose="02020603050405020304" pitchFamily="18" charset="0"/>
              </a:rPr>
              <a:t>Scalable, reliable, and user-friendly platform.</a:t>
            </a:r>
          </a:p>
          <a:p>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388936"/>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6" name="TextBox 5">
            <a:extLst>
              <a:ext uri="{FF2B5EF4-FFF2-40B4-BE49-F238E27FC236}">
                <a16:creationId xmlns:a16="http://schemas.microsoft.com/office/drawing/2014/main" id="{1BCAD3B6-EF69-93F4-FE5E-5F8412504B4C}"/>
              </a:ext>
            </a:extLst>
          </p:cNvPr>
          <p:cNvSpPr txBox="1"/>
          <p:nvPr/>
        </p:nvSpPr>
        <p:spPr>
          <a:xfrm>
            <a:off x="457200" y="1447800"/>
            <a:ext cx="4572000" cy="4893647"/>
          </a:xfrm>
          <a:prstGeom prst="rect">
            <a:avLst/>
          </a:prstGeom>
          <a:noFill/>
        </p:spPr>
        <p:txBody>
          <a:bodyPr wrap="square">
            <a:spAutoFit/>
          </a:bodyPr>
          <a:lstStyle/>
          <a:p>
            <a:pPr>
              <a:buNone/>
            </a:pPr>
            <a:r>
              <a:rPr lang="en-IN" sz="2400" b="1" dirty="0">
                <a:solidFill>
                  <a:schemeClr val="accent5">
                    <a:lumMod val="50000"/>
                  </a:schemeClr>
                </a:solidFill>
                <a:latin typeface="Times New Roman" panose="02020603050405020304" pitchFamily="18" charset="0"/>
                <a:cs typeface="Times New Roman" panose="02020603050405020304" pitchFamily="18" charset="0"/>
              </a:rPr>
              <a:t>Conclusion:</a:t>
            </a:r>
          </a:p>
          <a:p>
            <a:pPr>
              <a:buNone/>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Student Innovation &amp; Startup Cell Portal</a:t>
            </a:r>
            <a:r>
              <a:rPr lang="en-IN" dirty="0">
                <a:latin typeface="Times New Roman" panose="02020603050405020304" pitchFamily="18" charset="0"/>
                <a:cs typeface="Times New Roman" panose="02020603050405020304" pitchFamily="18" charset="0"/>
              </a:rPr>
              <a:t> provides a centralized and efficient platform for managing innovation and entrepreneurship activities within academic institutions. It simplifies startup registration, proposal submission, mentor assignment, progress tracking, and administrative management through a user-friendly digital environment. By improving collaboration among students, mentors, and administrators, the portal promotes transparency, accountability, and effective communication. The system ultimately fosters a culture of innovation and supports students in transforming their ideas into successful startup ventures.</a:t>
            </a:r>
          </a:p>
        </p:txBody>
      </p:sp>
      <p:sp>
        <p:nvSpPr>
          <p:cNvPr id="8" name="TextBox 7">
            <a:extLst>
              <a:ext uri="{FF2B5EF4-FFF2-40B4-BE49-F238E27FC236}">
                <a16:creationId xmlns:a16="http://schemas.microsoft.com/office/drawing/2014/main" id="{829420DF-3677-6613-DA8F-E7C0831EF5D5}"/>
              </a:ext>
            </a:extLst>
          </p:cNvPr>
          <p:cNvSpPr txBox="1"/>
          <p:nvPr/>
        </p:nvSpPr>
        <p:spPr>
          <a:xfrm>
            <a:off x="5143500" y="1447800"/>
            <a:ext cx="3543300" cy="2677656"/>
          </a:xfrm>
          <a:prstGeom prst="rect">
            <a:avLst/>
          </a:prstGeom>
          <a:noFill/>
        </p:spPr>
        <p:txBody>
          <a:bodyPr wrap="square">
            <a:spAutoFit/>
          </a:bodyPr>
          <a:lstStyle/>
          <a:p>
            <a:pPr>
              <a:buNone/>
            </a:pPr>
            <a:r>
              <a:rPr lang="en-IN" sz="2400" b="1" dirty="0">
                <a:solidFill>
                  <a:schemeClr val="accent5">
                    <a:lumMod val="50000"/>
                  </a:schemeClr>
                </a:solidFill>
                <a:latin typeface="Times New Roman" panose="02020603050405020304" pitchFamily="18" charset="0"/>
                <a:cs typeface="Times New Roman" panose="02020603050405020304" pitchFamily="18" charset="0"/>
              </a:rPr>
              <a:t>Future Scope:</a:t>
            </a:r>
            <a:endParaRPr lang="en-IN" sz="2400" dirty="0">
              <a:solidFill>
                <a:schemeClr val="accent5">
                  <a:lumMod val="50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AI-powered proposal evaluation.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Mobile application support.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Investor and industry expert integration.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Funding and incubation management.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Advanced analytics and reporting.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Cloud-based scalable deployment.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US" sz="5400" b="1" cap="none" spc="0" dirty="0">
              <a:ln w="13462">
                <a:solidFill>
                  <a:schemeClr val="bg1"/>
                </a:solidFill>
                <a:prstDash val="solid"/>
              </a:ln>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1855</TotalTime>
  <Words>1050</Words>
  <Application>Microsoft Office PowerPoint</Application>
  <PresentationFormat>On-screen Show (4:3)</PresentationFormat>
  <Paragraphs>93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Times New Roman</vt:lpstr>
      <vt:lpstr>Office Theme</vt:lpstr>
      <vt:lpstr> A Project Review Meeting    on student innovation startup cell portal </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Anuradha Nandini Peddiraju</cp:lastModifiedBy>
  <cp:revision>199</cp:revision>
  <dcterms:created xsi:type="dcterms:W3CDTF">2006-08-16T00:00:00Z</dcterms:created>
  <dcterms:modified xsi:type="dcterms:W3CDTF">2026-06-03T14:21:12Z</dcterms:modified>
</cp:coreProperties>
</file>